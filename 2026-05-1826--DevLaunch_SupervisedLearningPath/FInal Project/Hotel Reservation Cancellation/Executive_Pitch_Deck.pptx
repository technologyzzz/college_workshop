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65" r:id="rId4"/>
    <p:sldId id="257" r:id="rId5"/>
    <p:sldId id="258" r:id="rId6"/>
    <p:sldId id="266" r:id="rId7"/>
    <p:sldId id="259" r:id="rId8"/>
    <p:sldId id="263" r:id="rId9"/>
  </p:sldIdLst>
  <p:sldSz cx="16256000" cy="9144000"/>
  <p:notesSz cx="9144000" cy="16256000"/>
  <p:embeddedFontLst>
    <p:embeddedFont>
      <p:font typeface="Liter" panose="020B0604020202020204" charset="0"/>
      <p:regular r:id="rId11"/>
    </p:embeddedFont>
    <p:embeddedFont>
      <p:font typeface="Quattrocento Sans" panose="020B0502050000020003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7BE-4AE5-80A4-A35CF6530720}"/>
              </c:ext>
            </c:extLst>
          </c:dPt>
          <c:dPt>
            <c:idx val="1"/>
            <c:bubble3D val="0"/>
            <c:spPr>
              <a:solidFill>
                <a:srgbClr val="E848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BE-4AE5-80A4-A35CF653072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BE-4AE5-80A4-A35CF653072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BE-4AE5-80A4-A35CF653072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Not Cancelled</c:v>
                </c:pt>
                <c:pt idx="1">
                  <c:v>Cancelled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62.51</c:v>
                </c:pt>
                <c:pt idx="1">
                  <c:v>37.49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7BE-4AE5-80A4-A35CF65307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XGBoost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0.81399999999999995</c:v>
                </c:pt>
                <c:pt idx="1">
                  <c:v>0.88100000000000001</c:v>
                </c:pt>
                <c:pt idx="2">
                  <c:v>0.89600000000000002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89-4DEB-9F64-3E7F76F802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F1E3D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XGBoost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0.81599999999999995</c:v>
                </c:pt>
                <c:pt idx="1">
                  <c:v>0.85899999999999999</c:v>
                </c:pt>
                <c:pt idx="2">
                  <c:v>0.90200000000000002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A89-4DEB-9F64-3E7F76F802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8963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XGBoost</c:v>
                </c:pt>
                <c:pt idx="2">
                  <c:v>Random Forest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0.65100000000000002</c:v>
                </c:pt>
                <c:pt idx="1">
                  <c:v>0.81599999999999995</c:v>
                </c:pt>
                <c:pt idx="2">
                  <c:v>0.81100000000000005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A89-4DEB-9F64-3E7F76F8024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XGBoost</c:v>
                </c:pt>
                <c:pt idx="2">
                  <c:v>Random Forest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0.72399999999999998</c:v>
                </c:pt>
                <c:pt idx="1">
                  <c:v>0.83699999999999997</c:v>
                </c:pt>
                <c:pt idx="2">
                  <c:v>0.85399999999999998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A89-4DEB-9F64-3E7F76F8024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747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f6d0022e468f15b2a7221428a07a38c457f78f9e.jpg"/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E3D"/>
              </a:gs>
              <a:gs pos="55000">
                <a:srgbClr val="0F1E3D">
                  <a:alpha val="92000"/>
                </a:srgbClr>
              </a:gs>
              <a:gs pos="100000">
                <a:srgbClr val="0F1E3D">
                  <a:alpha val="74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1016000"/>
            <a:ext cx="1016000" cy="508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1270000"/>
            <a:ext cx="889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Hotel Booking Cancellation</a:t>
            </a:r>
            <a:endParaRPr lang="en-US" sz="4800" dirty="0"/>
          </a:p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Risk Model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016000" y="3175000"/>
            <a:ext cx="825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  MITIGASI &amp; PERLINDUNGAN REVENUE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3937000"/>
            <a:ext cx="635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16000" y="41910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Pitch Deck — Data-Driven Solution for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Protection Through Machine Learning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7874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June 2026 | MAULANA ABDUL AZIZ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30000" y="5715000"/>
            <a:ext cx="3810000" cy="11430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684000" y="57785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85.4%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684000" y="63500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1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 ACHIEVED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30000" y="7048500"/>
            <a:ext cx="3810000" cy="1143000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684000" y="7112000"/>
            <a:ext cx="330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37.5%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684000" y="7683500"/>
            <a:ext cx="330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1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CANCELLATION RATE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90500"/>
            <a:ext cx="1473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55600"/>
            <a:ext cx="292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BUSINESS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143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37.5%  of Bookings Cancel — Risiko Revenue Tahunanan Sebesar $4.6M 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4572000" cy="1397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676400"/>
            <a:ext cx="4064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37.49%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016000" y="24511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Cancellation Rate — 44,010 booking </a:t>
            </a:r>
            <a:r>
              <a:rPr lang="en-US" sz="1400" dirty="0" err="1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menghilang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0" y="1587500"/>
            <a:ext cx="4572000" cy="1397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0" name="Text 8"/>
          <p:cNvSpPr/>
          <p:nvPr/>
        </p:nvSpPr>
        <p:spPr>
          <a:xfrm>
            <a:off x="5842000" y="1676400"/>
            <a:ext cx="4064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$101.83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842000" y="24511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ADR — Average Daily Revenue per Kamar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14000" y="1587500"/>
            <a:ext cx="5080000" cy="1397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0" y="1676400"/>
            <a:ext cx="4572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2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119,390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0668000" y="24511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Reservations </a:t>
            </a:r>
            <a:r>
              <a:rPr lang="en-US" sz="1400" dirty="0" err="1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Dianalisa</a:t>
            </a: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(2015–2017)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01000" y="3238500"/>
            <a:ext cx="7493000" cy="44831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7" name="Text 14"/>
          <p:cNvSpPr/>
          <p:nvPr/>
        </p:nvSpPr>
        <p:spPr>
          <a:xfrm>
            <a:off x="8382000" y="3429000"/>
            <a:ext cx="673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2000" y="3937000"/>
            <a:ext cx="508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9" name="Text 16"/>
          <p:cNvSpPr/>
          <p:nvPr/>
        </p:nvSpPr>
        <p:spPr>
          <a:xfrm>
            <a:off x="8382000" y="4165600"/>
            <a:ext cx="6731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Hampir 4 dari 10 reservasi gagal terwujud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menyebabkan kebocoran pendapatan langsung dan ketidakpastian operasional.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Dengan median </a:t>
            </a: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$101.83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  44,010 pembatalan pesanan tersebut mewakili perkiraan kerugian </a:t>
            </a: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$4.6M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sebelum memperhitungkan pengeluaran tambahan (F&amp;B, spa, parkir).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Pola ini sebenarnya bukan </a:t>
            </a: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kebetulan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Machine Learning mengidentifikasi sinyal risiko yang dapat diprediksi dengan </a:t>
            </a: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 85.4%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8763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kern="0" spc="1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200" dirty="0"/>
          </a:p>
        </p:txBody>
      </p:sp>
      <p:graphicFrame>
        <p:nvGraphicFramePr>
          <p:cNvPr id="22" name="Chart 0">
            <a:extLst>
              <a:ext uri="{FF2B5EF4-FFF2-40B4-BE49-F238E27FC236}">
                <a16:creationId xmlns:a16="http://schemas.microsoft.com/office/drawing/2014/main" id="{F00DE288-64FD-748F-9CED-415C845186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3989978"/>
              </p:ext>
            </p:extLst>
          </p:nvPr>
        </p:nvGraphicFramePr>
        <p:xfrm>
          <a:off x="762000" y="3337112"/>
          <a:ext cx="6858000" cy="491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">
            <a:extLst>
              <a:ext uri="{FF2B5EF4-FFF2-40B4-BE49-F238E27FC236}">
                <a16:creationId xmlns:a16="http://schemas.microsoft.com/office/drawing/2014/main" id="{592CA988-3ECD-33C5-AFEB-D88E2E30B6AD}"/>
              </a:ext>
            </a:extLst>
          </p:cNvPr>
          <p:cNvSpPr/>
          <p:nvPr/>
        </p:nvSpPr>
        <p:spPr>
          <a:xfrm>
            <a:off x="2965077" y="3111500"/>
            <a:ext cx="323028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F1E3D"/>
                </a:solidFill>
                <a:latin typeface="Liter" pitchFamily="34" charset="0"/>
              </a:rPr>
              <a:t>Booking Status Distribution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872" y="1280136"/>
            <a:ext cx="16256000" cy="6938414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" name="Shape 1"/>
          <p:cNvSpPr/>
          <p:nvPr/>
        </p:nvSpPr>
        <p:spPr>
          <a:xfrm>
            <a:off x="761852" y="191356"/>
            <a:ext cx="14729155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670429" y="310680"/>
            <a:ext cx="3357193" cy="266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0429" y="615421"/>
            <a:ext cx="14150148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5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 Time &amp; Deposit Type —  Cancellation Predictors Terkuat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1851" y="1242043"/>
            <a:ext cx="761851" cy="38093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7" name="Shape 5"/>
          <p:cNvSpPr/>
          <p:nvPr/>
        </p:nvSpPr>
        <p:spPr>
          <a:xfrm>
            <a:off x="670429" y="5791900"/>
            <a:ext cx="14911904" cy="2028586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8" name="Text 6"/>
          <p:cNvSpPr/>
          <p:nvPr/>
        </p:nvSpPr>
        <p:spPr>
          <a:xfrm>
            <a:off x="761852" y="5862297"/>
            <a:ext cx="2228411" cy="38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1852" y="6290838"/>
            <a:ext cx="507869" cy="38093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8491300" y="6431940"/>
            <a:ext cx="6659029" cy="1619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en-US" sz="1275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Deposit Type — #2 Predictor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75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Deposit yang Non-Refund menunjukkan tingkat cancellation 99,4% (anomali kebijakan). </a:t>
            </a:r>
            <a:endParaRPr lang="en-US" sz="1200" dirty="0"/>
          </a:p>
          <a:p>
            <a:pPr marL="190475" indent="-190475">
              <a:lnSpc>
                <a:spcPct val="150000"/>
              </a:lnSpc>
              <a:spcBef>
                <a:spcPts val="7"/>
              </a:spcBef>
              <a:buSzPct val="100000"/>
              <a:buChar char="•"/>
            </a:pPr>
            <a:r>
              <a:rPr lang="en-US" sz="1275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Bukan berarti Non-Refund penyebab cancellation namun lebih berperan sebagai indikator risiko daripada alat pencegah cancellation.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0429" y="8745040"/>
            <a:ext cx="2087472" cy="34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891620" y="8716471"/>
            <a:ext cx="690713" cy="34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1852" y="6431941"/>
            <a:ext cx="6463491" cy="1489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75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Time — #1 Predictor</a:t>
            </a: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1275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Tingkat cancellation meningkat dari 21% (0-30 days) menjadi 68% (&gt;365 days). </a:t>
            </a:r>
            <a:endParaRPr lang="en-US" sz="1200" dirty="0"/>
          </a:p>
          <a:p>
            <a:pPr marL="190475" indent="-190475">
              <a:lnSpc>
                <a:spcPct val="150000"/>
              </a:lnSpc>
              <a:spcBef>
                <a:spcPts val="7"/>
              </a:spcBef>
              <a:buSzPct val="100000"/>
              <a:buChar char="•"/>
            </a:pPr>
            <a:r>
              <a:rPr lang="en-US" sz="1275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yang dilakukan lebih dari 1 tahun sebelumnya memiliki kemungkinan 3,2x lebih besar untuk dibatalkan</a:t>
            </a:r>
            <a:endParaRPr lang="en-US" sz="1200" dirty="0"/>
          </a:p>
        </p:txBody>
      </p:sp>
      <p:pic>
        <p:nvPicPr>
          <p:cNvPr id="14" name="Image 0" descr="https://kimi-img.moonshot.cn/pub/slides/26-06-01-21:54:10-d8eou0in4f1c6o2fj8j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90" y="1376177"/>
            <a:ext cx="8043860" cy="4321974"/>
          </a:xfrm>
          <a:prstGeom prst="rect">
            <a:avLst/>
          </a:prstGeom>
        </p:spPr>
      </p:pic>
      <p:pic>
        <p:nvPicPr>
          <p:cNvPr id="15" name="Image 1" descr="https://kimi-img.moonshot.cn/pub/slides/26-06-01-21:54:41-d8eou8f826pm4p5vfk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5153" y="1376177"/>
            <a:ext cx="7126514" cy="432197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0" y="7820486"/>
            <a:ext cx="16256000" cy="734555"/>
          </a:xfrm>
          <a:prstGeom prst="rect">
            <a:avLst/>
          </a:prstGeom>
          <a:solidFill>
            <a:srgbClr val="C8963E">
              <a:alpha val="41000"/>
            </a:srgbClr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340B56A5-00E5-3B63-54BD-7118D640641B}"/>
              </a:ext>
            </a:extLst>
          </p:cNvPr>
          <p:cNvSpPr/>
          <p:nvPr/>
        </p:nvSpPr>
        <p:spPr>
          <a:xfrm>
            <a:off x="1747606" y="7830009"/>
            <a:ext cx="12131680" cy="73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50" b="1" dirty="0">
                <a:solidFill>
                  <a:srgbClr val="1B3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Implication</a:t>
            </a:r>
            <a:endParaRPr lang="en-US" sz="1200" dirty="0"/>
          </a:p>
          <a:p>
            <a:pPr marL="0" algn="l" rtl="0" eaLnBrk="1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Risiko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cancellation  paling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utama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terindikasi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karena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waktu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booking guest yang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terlalu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awal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dan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kebijakan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deposit yang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kurang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 </a:t>
            </a:r>
            <a:r>
              <a:rPr lang="en-US" sz="1200" kern="1200" dirty="0" err="1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agresif</a:t>
            </a:r>
            <a:r>
              <a:rPr lang="en-US" sz="1200" kern="1200" dirty="0">
                <a:solidFill>
                  <a:srgbClr val="333333"/>
                </a:solidFill>
                <a:effectLst/>
                <a:latin typeface="QuattrocentoSans"/>
                <a:ea typeface="QuattrocentoSans"/>
                <a:cs typeface="QuattrocentoSans"/>
              </a:rPr>
              <a:t>.</a:t>
            </a:r>
            <a:endParaRPr lang="en-ID" sz="1200" dirty="0">
              <a:effectLst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63665"/>
            <a:ext cx="16256000" cy="6822659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820486"/>
            <a:ext cx="16256000" cy="734555"/>
          </a:xfrm>
          <a:prstGeom prst="rect">
            <a:avLst/>
          </a:prstGeom>
          <a:solidFill>
            <a:srgbClr val="C8963E">
              <a:alpha val="4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1852" y="191356"/>
            <a:ext cx="14729155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670429" y="310680"/>
            <a:ext cx="3357193" cy="266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CAUSE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0429" y="615421"/>
            <a:ext cx="14150148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5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Behavior, Booking Source &amp; Seasonality — Pola Cancellation Predictors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1851" y="1270613"/>
            <a:ext cx="761851" cy="38093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8" name="Shape 6"/>
          <p:cNvSpPr/>
          <p:nvPr/>
        </p:nvSpPr>
        <p:spPr>
          <a:xfrm>
            <a:off x="9132692" y="4381537"/>
            <a:ext cx="6979012" cy="3448471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9" name="Text 7"/>
          <p:cNvSpPr/>
          <p:nvPr/>
        </p:nvSpPr>
        <p:spPr>
          <a:xfrm>
            <a:off x="9306427" y="5048955"/>
            <a:ext cx="6587263" cy="254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5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Behavior — #3Predictor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Pelanggan baru, pelanggan dengan riwayat pembatalan, dan booking dengan engagement rendah menunjukkan kecenderungan cancellation lebih tinggi.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35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Booking Source — #4Predictor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Channel Group dan TA/TO memiliki tingkat cancellation lebih tinggi, mengindikasikan komitmen booking yang lebih rendah.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35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Seasonal by Arriving Month — #5Predictor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Cancellation mencapai puncak pada periode Apr–Jun akibat tingginya efek seasonality dan volatilitas permintaan.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0429" y="8716471"/>
            <a:ext cx="2087472" cy="34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891620" y="8716471"/>
            <a:ext cx="690713" cy="34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200" dirty="0"/>
          </a:p>
        </p:txBody>
      </p:sp>
      <p:pic>
        <p:nvPicPr>
          <p:cNvPr id="12" name="Image 0" descr="https://kimi-img.moonshot.cn/pub/slides/26-06-01-18:45:26-d8em5hg7aa32efkggbq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13" y="1700083"/>
            <a:ext cx="8731804" cy="2652183"/>
          </a:xfrm>
          <a:prstGeom prst="rect">
            <a:avLst/>
          </a:prstGeom>
        </p:spPr>
      </p:pic>
      <p:pic>
        <p:nvPicPr>
          <p:cNvPr id="13" name="Image 1" descr="https://kimi-img.moonshot.cn/pub/slides/26-06-01-18:46:11-d8em5sod7itq3dg2m4s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36" y="4521461"/>
            <a:ext cx="8903687" cy="2942569"/>
          </a:xfrm>
          <a:prstGeom prst="rect">
            <a:avLst/>
          </a:prstGeom>
        </p:spPr>
      </p:pic>
      <p:pic>
        <p:nvPicPr>
          <p:cNvPr id="14" name="Image 2" descr="https://kimi-img.moonshot.cn/pub/slides/26-06-01-18:47:27-d8em6ft96bk061k50r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4130" y="1405558"/>
            <a:ext cx="7295208" cy="27136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06427" y="4524889"/>
            <a:ext cx="2228411" cy="38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5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306427" y="4953430"/>
            <a:ext cx="507869" cy="38093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7" name="Text 12"/>
          <p:cNvSpPr/>
          <p:nvPr/>
        </p:nvSpPr>
        <p:spPr>
          <a:xfrm>
            <a:off x="1747606" y="7830009"/>
            <a:ext cx="12131680" cy="734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50" b="1" dirty="0">
                <a:solidFill>
                  <a:srgbClr val="1B3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Implication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Risiko cancellation dipengaruhi oleh customer commitment, channel booking, dan pola permintaan seasonal sehingga membutuhkan strategi mitigasi yang berbeda</a:t>
            </a:r>
            <a:r>
              <a:rPr lang="en-US" sz="135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90500"/>
            <a:ext cx="1473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55600"/>
            <a:ext cx="266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Outperforms dengan F1-Score 85.4%, Melebihi Target Bootcamp 82%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963E"/>
          </a:solidFill>
          <a:ln/>
        </p:spPr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828969504"/>
              </p:ext>
            </p:extLst>
          </p:nvPr>
        </p:nvGraphicFramePr>
        <p:xfrm>
          <a:off x="825500" y="1572491"/>
          <a:ext cx="83820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9525000" y="1587500"/>
            <a:ext cx="5969000" cy="4191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8" name="Text 5"/>
          <p:cNvSpPr/>
          <p:nvPr/>
        </p:nvSpPr>
        <p:spPr>
          <a:xfrm>
            <a:off x="9842500" y="177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kern="0" spc="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CHAMPION 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42500" y="2133600"/>
            <a:ext cx="533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842500" y="2730500"/>
            <a:ext cx="5334000" cy="127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9842500" y="2895600"/>
          <a:ext cx="5334000" cy="266700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89.61%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90.17%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81.12%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F1-Score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85.41%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62000" y="60325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85.41%</a:t>
            </a:r>
            <a:r>
              <a:rPr lang="en-US" sz="2000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F1-Score vs </a:t>
            </a:r>
            <a:r>
              <a:rPr lang="en-US" sz="20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82%</a:t>
            </a:r>
            <a:r>
              <a:rPr lang="en-US" sz="2000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Target | </a:t>
            </a:r>
            <a:r>
              <a:rPr lang="en-US" sz="2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+3.41pp</a:t>
            </a:r>
            <a:r>
              <a:rPr lang="en-US" sz="2000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Outperformance | </a:t>
            </a:r>
            <a:r>
              <a:rPr lang="en-US" sz="20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89.6%</a:t>
            </a:r>
            <a:r>
              <a:rPr lang="en-US" sz="2000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Overall Accuracy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62000" y="6731000"/>
            <a:ext cx="14732000" cy="177800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4" name="Text 10"/>
          <p:cNvSpPr/>
          <p:nvPr/>
        </p:nvSpPr>
        <p:spPr>
          <a:xfrm>
            <a:off x="1143000" y="69215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90.2% Precision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dari 10 predicted cancellations adalah pembatalan aktual.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969000" y="69215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81.1% Recall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ini mampu mendeteksi 4 dari 5 cancellation aktual memiliki kemampuan peringatan dini yang kuat.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795000" y="6921500"/>
            <a:ext cx="431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Non-Linear Patterns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Tree-based model outperforms pendekatan linier, yang menandakan cancellation adalah interaksi sangat kompleks.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62000" y="8763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kern="0" spc="1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D4DF6894-EB99-FDFF-A85E-5C96618040C0}"/>
              </a:ext>
            </a:extLst>
          </p:cNvPr>
          <p:cNvSpPr/>
          <p:nvPr/>
        </p:nvSpPr>
        <p:spPr>
          <a:xfrm>
            <a:off x="3401359" y="1289050"/>
            <a:ext cx="3230282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0F1E3D"/>
                </a:solidFill>
                <a:latin typeface="Liter" pitchFamily="34" charset="0"/>
              </a:rPr>
              <a:t>Baseline Model </a:t>
            </a:r>
            <a:r>
              <a:rPr lang="en-US" sz="1600" b="1" dirty="0" err="1">
                <a:solidFill>
                  <a:srgbClr val="0F1E3D"/>
                </a:solidFill>
                <a:latin typeface="Liter" pitchFamily="34" charset="0"/>
              </a:rPr>
              <a:t>Comparision</a:t>
            </a:r>
            <a:r>
              <a:rPr lang="en-US" sz="1600" b="1" dirty="0">
                <a:solidFill>
                  <a:srgbClr val="0F1E3D"/>
                </a:solidFill>
                <a:latin typeface="Liter" pitchFamily="34" charset="0"/>
              </a:rPr>
              <a:t> – All Metrics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852" y="191356"/>
            <a:ext cx="14729155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670429" y="310680"/>
            <a:ext cx="3357193" cy="266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70429" y="615421"/>
            <a:ext cx="14150148" cy="624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55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Akurasi</a:t>
            </a:r>
            <a:r>
              <a:rPr lang="en-US" sz="255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Model 88% </a:t>
            </a:r>
            <a:r>
              <a:rPr lang="en-US" sz="255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Sebagai</a:t>
            </a:r>
            <a:r>
              <a:rPr lang="en-US" sz="255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Cancellation Predictor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1851" y="1270613"/>
            <a:ext cx="761851" cy="38093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464531" y="5714777"/>
            <a:ext cx="8203812" cy="3001694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7" name="Text 5"/>
          <p:cNvSpPr/>
          <p:nvPr/>
        </p:nvSpPr>
        <p:spPr>
          <a:xfrm>
            <a:off x="1047545" y="5857624"/>
            <a:ext cx="3809256" cy="3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METRICS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47546" y="6238549"/>
            <a:ext cx="507869" cy="38093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9" name="Text 7"/>
          <p:cNvSpPr/>
          <p:nvPr/>
        </p:nvSpPr>
        <p:spPr>
          <a:xfrm>
            <a:off x="828513" y="6438536"/>
            <a:ext cx="7563195" cy="166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mencapai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Accuracy 89.61%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dengan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F1-Score 85.41%,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melampaui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target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sebesar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82%.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 86% dan Recall 81% pada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kelas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cancellation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menunjukkan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bahwa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sebagian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besar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reservasi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berisiko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berhasil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diidentifikasi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secara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konsisten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Jumlah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false prediction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relatif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rendah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dibanding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total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observasi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menunjukkan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klasifikasi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yang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stabil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pada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kedua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200" dirty="0" err="1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kelas</a:t>
            </a:r>
            <a:r>
              <a:rPr lang="en-US" sz="1200" dirty="0">
                <a:solidFill>
                  <a:srgbClr val="E8E6E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target</a:t>
            </a:r>
            <a:r>
              <a:rPr lang="en-US" sz="1200" b="1" dirty="0">
                <a:solidFill>
                  <a:srgbClr val="E8E6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F1 ≥ 82%: ACHIEVED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879707" y="5714777"/>
            <a:ext cx="6547780" cy="3001694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1" name="Text 9"/>
          <p:cNvSpPr/>
          <p:nvPr/>
        </p:nvSpPr>
        <p:spPr>
          <a:xfrm>
            <a:off x="9475524" y="5857624"/>
            <a:ext cx="1913838" cy="333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INSIGHT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75525" y="6238549"/>
            <a:ext cx="507869" cy="38093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13" name="Text 11"/>
          <p:cNvSpPr/>
          <p:nvPr/>
        </p:nvSpPr>
        <p:spPr>
          <a:xfrm>
            <a:off x="670429" y="8716471"/>
            <a:ext cx="2087472" cy="34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91620" y="8716471"/>
            <a:ext cx="690713" cy="34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200" dirty="0"/>
          </a:p>
        </p:txBody>
      </p:sp>
      <p:pic>
        <p:nvPicPr>
          <p:cNvPr id="15" name="Image 0" descr="https://kimi-img.moonshot.cn/pub/slides/26-06-01-22:45:53-d8epm8f6rtpafjp5su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7" y="1676995"/>
            <a:ext cx="9928206" cy="3301356"/>
          </a:xfrm>
          <a:prstGeom prst="rect">
            <a:avLst/>
          </a:prstGeom>
        </p:spPr>
      </p:pic>
      <p:pic>
        <p:nvPicPr>
          <p:cNvPr id="16" name="Image 1" descr="https://kimi-img.moonshot.cn/pub/slides/26-06-01-22:46:32-d8epmi052cerde5upd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343" y="478008"/>
            <a:ext cx="6009101" cy="508398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318172" y="6438536"/>
            <a:ext cx="5899806" cy="1966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mampu mengidentifikasi reservasi berisiko tinggi sebelum tanggal check-in untuk mendukung tindakan preventif.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Prediksi cancellation membantu meningkatkan akurasi forecasting okupansi dan mengurangi risiko underutilized rooms.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Hotel dapat menerapkan reminder otomatis, kebijakan deposit dinamis, dan strategi overbooking berdasarkan tingkat risiko pelanggan.</a:t>
            </a:r>
            <a:endParaRPr lang="en-US" sz="12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berpotensi diintegrasikan ke PMS sebagai early warning system untuk mendukung pengambilan keputusan operasional secara real-time.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90500"/>
            <a:ext cx="14732000" cy="0"/>
          </a:xfrm>
          <a:prstGeom prst="straightConnector1">
            <a:avLst/>
          </a:prstGeom>
          <a:noFill/>
          <a:ln w="254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762000" y="355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kern="0" spc="200" dirty="0">
                <a:solidFill>
                  <a:srgbClr val="6B7B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660400"/>
            <a:ext cx="1397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Tiga</a:t>
            </a: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Aksi</a:t>
            </a: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Untuk</a:t>
            </a: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280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Memotong</a:t>
            </a: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Cancellation -- Target </a:t>
            </a:r>
            <a:r>
              <a:rPr lang="en-US" sz="280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dari</a:t>
            </a: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37.5% </a:t>
            </a:r>
            <a:r>
              <a:rPr lang="en-US" sz="2800" b="1" dirty="0" err="1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menjadi</a:t>
            </a:r>
            <a:r>
              <a:rPr lang="en-US" sz="2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25%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4699000" cy="533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587500"/>
            <a:ext cx="4699000" cy="762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714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AKSI 1 : DYNAMIC DEPOSIT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10" name="Text 8"/>
          <p:cNvSpPr/>
          <p:nvPr/>
        </p:nvSpPr>
        <p:spPr>
          <a:xfrm>
            <a:off x="1587500" y="2603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Risk-Based Policy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175000"/>
            <a:ext cx="4191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(Lead time &gt;120 days, No deposit)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Membutuhkan deposit yang tidak dapat di refund atau uang muka penuh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Risk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(31–120 days)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Cancellation deadline  yang lebih ketat(14 hari sebelum check-in)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(Repeat guests)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Cancellation fleksibel hanya sebagai hadiah loyalitas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1587500"/>
            <a:ext cx="4699000" cy="533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715000" y="1587500"/>
            <a:ext cx="4699000" cy="762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4" name="Text 12"/>
          <p:cNvSpPr/>
          <p:nvPr/>
        </p:nvSpPr>
        <p:spPr>
          <a:xfrm>
            <a:off x="5969000" y="1714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AKSI 2 : ENGAGEMENT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94400" y="2603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0"/>
                </a:moveTo>
                <a:cubicBezTo>
                  <a:pt x="163751" y="0"/>
                  <a:pt x="152400" y="11351"/>
                  <a:pt x="152400" y="25400"/>
                </a:cubicBezTo>
                <a:lnTo>
                  <a:pt x="152400" y="27940"/>
                </a:lnTo>
                <a:cubicBezTo>
                  <a:pt x="94456" y="39688"/>
                  <a:pt x="50800" y="90964"/>
                  <a:pt x="50800" y="152400"/>
                </a:cubicBezTo>
                <a:lnTo>
                  <a:pt x="50800" y="169624"/>
                </a:lnTo>
                <a:cubicBezTo>
                  <a:pt x="50800" y="207804"/>
                  <a:pt x="37783" y="244872"/>
                  <a:pt x="13970" y="274717"/>
                </a:cubicBezTo>
                <a:lnTo>
                  <a:pt x="6191" y="284401"/>
                </a:lnTo>
                <a:cubicBezTo>
                  <a:pt x="2143" y="289401"/>
                  <a:pt x="0" y="295592"/>
                  <a:pt x="0" y="302022"/>
                </a:cubicBezTo>
                <a:cubicBezTo>
                  <a:pt x="0" y="317579"/>
                  <a:pt x="12621" y="330200"/>
                  <a:pt x="28178" y="330200"/>
                </a:cubicBezTo>
                <a:lnTo>
                  <a:pt x="327343" y="330200"/>
                </a:lnTo>
                <a:cubicBezTo>
                  <a:pt x="342900" y="330200"/>
                  <a:pt x="355521" y="317579"/>
                  <a:pt x="355521" y="302022"/>
                </a:cubicBezTo>
                <a:cubicBezTo>
                  <a:pt x="355521" y="295592"/>
                  <a:pt x="353378" y="289401"/>
                  <a:pt x="349329" y="284401"/>
                </a:cubicBezTo>
                <a:lnTo>
                  <a:pt x="341551" y="274717"/>
                </a:lnTo>
                <a:cubicBezTo>
                  <a:pt x="317818" y="244872"/>
                  <a:pt x="304800" y="207804"/>
                  <a:pt x="304800" y="169624"/>
                </a:cubicBezTo>
                <a:lnTo>
                  <a:pt x="304800" y="152400"/>
                </a:lnTo>
                <a:cubicBezTo>
                  <a:pt x="304800" y="90964"/>
                  <a:pt x="261144" y="39688"/>
                  <a:pt x="203200" y="27940"/>
                </a:cubicBezTo>
                <a:lnTo>
                  <a:pt x="203200" y="25400"/>
                </a:lnTo>
                <a:cubicBezTo>
                  <a:pt x="203200" y="11351"/>
                  <a:pt x="191849" y="0"/>
                  <a:pt x="177800" y="0"/>
                </a:cubicBezTo>
                <a:close/>
                <a:moveTo>
                  <a:pt x="128588" y="368300"/>
                </a:moveTo>
                <a:cubicBezTo>
                  <a:pt x="134223" y="390208"/>
                  <a:pt x="154146" y="406400"/>
                  <a:pt x="177800" y="406400"/>
                </a:cubicBezTo>
                <a:cubicBezTo>
                  <a:pt x="201454" y="406400"/>
                  <a:pt x="221377" y="390208"/>
                  <a:pt x="227013" y="368300"/>
                </a:cubicBezTo>
                <a:lnTo>
                  <a:pt x="128588" y="368300"/>
                </a:ln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16" name="Text 14"/>
          <p:cNvSpPr/>
          <p:nvPr/>
        </p:nvSpPr>
        <p:spPr>
          <a:xfrm>
            <a:off x="6540500" y="2603500"/>
            <a:ext cx="3619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Reminders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69000" y="3175000"/>
            <a:ext cx="4191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H-30 Days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Confirmation email ulang dengan offer tambahan (spa, makan, check-out terlambat)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H-14 Days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 reminder dengan lokal yang dipersonalisasi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H-7 Days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confirmation + pemberitahuan check-in melalui ponsel untuk mengunci komitmen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587500"/>
            <a:ext cx="4826000" cy="533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8000" y="1587500"/>
            <a:ext cx="4826000" cy="762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2000" y="1714500"/>
            <a:ext cx="431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AKSI 3 : PMS INTEGRATION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C8963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93500" y="2603500"/>
            <a:ext cx="37465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Warning System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22000" y="3175000"/>
            <a:ext cx="4318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Random Forest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(F1: 85.4%) ke dalam PMS yang sudah ada. Tandai secara otomatis reservasi berisiko tinggi setiap hari untuk intervensi proaktif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Overbooking Intelligence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Gunakan prediksi tingkat ketidak hadiran untuk mengoptimalkan strategi overbooking dan meminimalkan cancellation tanpa pemberitahuan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Impact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</a:t>
            </a: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10–15pp</a:t>
            </a: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cancellation berkurang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858000"/>
            <a:ext cx="14732000" cy="177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033742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PROJECTED ANNUAL IMPACT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7340600"/>
            <a:ext cx="3556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$1.2–1.8M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Tahunan yang Dapat Dilindungi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1000" y="7340600"/>
            <a:ext cx="3556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10–15pp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Pengurangan Tingkat Cancellation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79000" y="7340600"/>
            <a:ext cx="35560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&lt;6 Months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Payback yang Diharapkan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7630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kern="0" spc="1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CONFIDENTIAL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 descr="https://kimi-web-img.moonshot.cn/img/www.shutterstock.com/f6d0022e468f15b2a7221428a07a38c457f78f9e.jpg">
            <a:extLst>
              <a:ext uri="{FF2B5EF4-FFF2-40B4-BE49-F238E27FC236}">
                <a16:creationId xmlns:a16="http://schemas.microsoft.com/office/drawing/2014/main" id="{A61F82CA-4CA7-74B5-4CFA-BA5E636E2E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25" name="Shape 0">
            <a:extLst>
              <a:ext uri="{FF2B5EF4-FFF2-40B4-BE49-F238E27FC236}">
                <a16:creationId xmlns:a16="http://schemas.microsoft.com/office/drawing/2014/main" id="{F43D0021-0EB8-6F20-1629-1F05E5BC5383}"/>
              </a:ext>
            </a:extLst>
          </p:cNvPr>
          <p:cNvSpPr/>
          <p:nvPr/>
        </p:nvSpPr>
        <p:spPr>
          <a:xfrm>
            <a:off x="-2" y="7884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E3D">
                  <a:alpha val="94000"/>
                </a:srgbClr>
              </a:gs>
              <a:gs pos="55000">
                <a:srgbClr val="0F1E3D">
                  <a:alpha val="82000"/>
                </a:srgbClr>
              </a:gs>
              <a:gs pos="100000">
                <a:srgbClr val="0F1E3D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E51470A5-CE46-830F-DD90-5B48120EE21A}"/>
              </a:ext>
            </a:extLst>
          </p:cNvPr>
          <p:cNvSpPr/>
          <p:nvPr/>
        </p:nvSpPr>
        <p:spPr>
          <a:xfrm rot="10800000">
            <a:off x="0" y="2606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F1E3D">
                  <a:alpha val="70000"/>
                </a:srgbClr>
              </a:gs>
              <a:gs pos="55000">
                <a:srgbClr val="0F1E3D">
                  <a:alpha val="82000"/>
                </a:srgbClr>
              </a:gs>
              <a:gs pos="100000">
                <a:srgbClr val="0F1E3D">
                  <a:alpha val="38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D17772F9-70A0-2D61-01DE-6F29F9D2C993}"/>
              </a:ext>
            </a:extLst>
          </p:cNvPr>
          <p:cNvSpPr/>
          <p:nvPr/>
        </p:nvSpPr>
        <p:spPr>
          <a:xfrm>
            <a:off x="6858000" y="635000"/>
            <a:ext cx="2540000" cy="0"/>
          </a:xfrm>
          <a:prstGeom prst="straightConnector1">
            <a:avLst/>
          </a:prstGeom>
          <a:noFill/>
          <a:ln w="38100">
            <a:solidFill>
              <a:srgbClr val="C8963E"/>
            </a:solidFill>
            <a:prstDash val="solid"/>
            <a:headEnd type="none"/>
            <a:tailEnd type="none"/>
          </a:ln>
        </p:spPr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7F4F52CE-920D-5590-66FD-7B2DF839637F}"/>
              </a:ext>
            </a:extLst>
          </p:cNvPr>
          <p:cNvSpPr/>
          <p:nvPr/>
        </p:nvSpPr>
        <p:spPr>
          <a:xfrm>
            <a:off x="1778000" y="889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Reactive to Predictive: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Melindungi Revenue Melalui AI-Powered Risk Management</a:t>
            </a:r>
            <a:endParaRPr lang="en-US" sz="16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3929DDD0-9628-BF15-A6ED-59CAC79A82F8}"/>
              </a:ext>
            </a:extLst>
          </p:cNvPr>
          <p:cNvSpPr/>
          <p:nvPr/>
        </p:nvSpPr>
        <p:spPr>
          <a:xfrm>
            <a:off x="5588000" y="2476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503A15A9-6D47-4A5A-6198-48706E582F4F}"/>
              </a:ext>
            </a:extLst>
          </p:cNvPr>
          <p:cNvSpPr/>
          <p:nvPr/>
        </p:nvSpPr>
        <p:spPr>
          <a:xfrm>
            <a:off x="1270000" y="2984500"/>
            <a:ext cx="4318000" cy="1651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5AECF006-8654-A96C-F0E6-560897151FA6}"/>
              </a:ext>
            </a:extLst>
          </p:cNvPr>
          <p:cNvSpPr/>
          <p:nvPr/>
        </p:nvSpPr>
        <p:spPr>
          <a:xfrm>
            <a:off x="1524000" y="3111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85.4%</a:t>
            </a:r>
            <a:endParaRPr lang="en-US" sz="16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56712430-1788-B66C-06B2-4B9DAA9126C4}"/>
              </a:ext>
            </a:extLst>
          </p:cNvPr>
          <p:cNvSpPr/>
          <p:nvPr/>
        </p:nvSpPr>
        <p:spPr>
          <a:xfrm>
            <a:off x="1524000" y="37846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 Achieved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Exceeding 82% Target</a:t>
            </a:r>
            <a:endParaRPr lang="en-US" sz="16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DCBFC8B1-4AB5-D2F5-325E-A5CC5DB4A6C7}"/>
              </a:ext>
            </a:extLst>
          </p:cNvPr>
          <p:cNvSpPr/>
          <p:nvPr/>
        </p:nvSpPr>
        <p:spPr>
          <a:xfrm>
            <a:off x="5969000" y="2984500"/>
            <a:ext cx="4318000" cy="1651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899FEDA1-2182-893E-0079-18CE9FC6D0E4}"/>
              </a:ext>
            </a:extLst>
          </p:cNvPr>
          <p:cNvSpPr/>
          <p:nvPr/>
        </p:nvSpPr>
        <p:spPr>
          <a:xfrm>
            <a:off x="6223000" y="3111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Drivers</a:t>
            </a:r>
            <a:endParaRPr lang="en-US" sz="16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7A88B4CA-E136-885B-52F9-F8BD02110805}"/>
              </a:ext>
            </a:extLst>
          </p:cNvPr>
          <p:cNvSpPr/>
          <p:nvPr/>
        </p:nvSpPr>
        <p:spPr>
          <a:xfrm>
            <a:off x="6223000" y="37846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Causes Identified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Quantified Business Impact</a:t>
            </a:r>
            <a:endParaRPr lang="en-US" sz="1600" dirty="0"/>
          </a:p>
        </p:txBody>
      </p:sp>
      <p:sp>
        <p:nvSpPr>
          <p:cNvPr id="36" name="Shape 9">
            <a:extLst>
              <a:ext uri="{FF2B5EF4-FFF2-40B4-BE49-F238E27FC236}">
                <a16:creationId xmlns:a16="http://schemas.microsoft.com/office/drawing/2014/main" id="{3289E54D-C235-3883-1D3B-AB55B7BE644F}"/>
              </a:ext>
            </a:extLst>
          </p:cNvPr>
          <p:cNvSpPr/>
          <p:nvPr/>
        </p:nvSpPr>
        <p:spPr>
          <a:xfrm>
            <a:off x="10668000" y="2984500"/>
            <a:ext cx="4318000" cy="1651000"/>
          </a:xfrm>
          <a:prstGeom prst="rect">
            <a:avLst/>
          </a:prstGeom>
          <a:solidFill>
            <a:srgbClr val="FFFFFF">
              <a:alpha val="6275"/>
            </a:srgbClr>
          </a:solidFill>
          <a:ln/>
        </p:spPr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BE0CE3D-57C9-8623-F5D1-D0114DD324D9}"/>
              </a:ext>
            </a:extLst>
          </p:cNvPr>
          <p:cNvSpPr/>
          <p:nvPr/>
        </p:nvSpPr>
        <p:spPr>
          <a:xfrm>
            <a:off x="10922000" y="3111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$1.2–1.8M</a:t>
            </a:r>
            <a:endParaRPr lang="en-US" sz="16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5C7053C8-E5CC-8CCF-D165-C1DF45580323}"/>
              </a:ext>
            </a:extLst>
          </p:cNvPr>
          <p:cNvSpPr/>
          <p:nvPr/>
        </p:nvSpPr>
        <p:spPr>
          <a:xfrm>
            <a:off x="10922000" y="37846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Revenue Protection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Through 3 Strategic Levers</a:t>
            </a:r>
            <a:endParaRPr lang="en-US" sz="16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08CAE2A9-8DC2-AAFB-3768-06F6FD148D49}"/>
              </a:ext>
            </a:extLst>
          </p:cNvPr>
          <p:cNvSpPr/>
          <p:nvPr/>
        </p:nvSpPr>
        <p:spPr>
          <a:xfrm>
            <a:off x="5588000" y="4889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kern="0" spc="200" dirty="0">
                <a:solidFill>
                  <a:srgbClr val="C8963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ADBE8F6A-D1D8-ED87-9585-667FF43374B2}"/>
              </a:ext>
            </a:extLst>
          </p:cNvPr>
          <p:cNvSpPr/>
          <p:nvPr/>
        </p:nvSpPr>
        <p:spPr>
          <a:xfrm>
            <a:off x="1778000" y="52070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Kebijakan deposit dinamis percontohan pada segmen berisiko tinggi (jangka waktu &gt;90 hari)</a:t>
            </a:r>
            <a:endParaRPr lang="en-US" sz="16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AEE6DBDB-7E2A-6B60-B03D-C48616F43C22}"/>
              </a:ext>
            </a:extLst>
          </p:cNvPr>
          <p:cNvSpPr/>
          <p:nvPr/>
        </p:nvSpPr>
        <p:spPr>
          <a:xfrm>
            <a:off x="1778000" y="6032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Mengintegrasikan API prediksi ke dalam Property Management System (PMS) yang sudah ada</a:t>
            </a:r>
            <a:endParaRPr lang="en-US" sz="1600" dirty="0"/>
          </a:p>
        </p:txBody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79F48115-6791-C4BB-2E4D-A89364DE597C}"/>
              </a:ext>
            </a:extLst>
          </p:cNvPr>
          <p:cNvSpPr/>
          <p:nvPr/>
        </p:nvSpPr>
        <p:spPr>
          <a:xfrm>
            <a:off x="1778000" y="6858000"/>
            <a:ext cx="606425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Menerapkan sistem pengingat otomatis (urutan H-30, H-14, H-7)</a:t>
            </a:r>
            <a:endParaRPr lang="en-US" sz="16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7C39E48E-F102-5A68-DB6D-66BF2530AE8B}"/>
              </a:ext>
            </a:extLst>
          </p:cNvPr>
          <p:cNvSpPr/>
          <p:nvPr/>
        </p:nvSpPr>
        <p:spPr>
          <a:xfrm>
            <a:off x="1778000" y="7620000"/>
            <a:ext cx="5842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C89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Tetapkan jadwal pemantauan dan pelatihan ulang model bulanan</a:t>
            </a:r>
            <a:endParaRPr lang="en-US" sz="16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0032BD26-9F21-D7AE-BADD-6B5CE8052477}"/>
              </a:ext>
            </a:extLst>
          </p:cNvPr>
          <p:cNvSpPr/>
          <p:nvPr/>
        </p:nvSpPr>
        <p:spPr>
          <a:xfrm>
            <a:off x="8890000" y="5270500"/>
            <a:ext cx="5588000" cy="3048000"/>
          </a:xfrm>
          <a:prstGeom prst="rect">
            <a:avLst/>
          </a:prstGeom>
          <a:solidFill>
            <a:srgbClr val="C8963E"/>
          </a:solidFill>
          <a:ln/>
        </p:spPr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C8373428-50EA-4D71-3BD9-161E75191AB2}"/>
              </a:ext>
            </a:extLst>
          </p:cNvPr>
          <p:cNvSpPr/>
          <p:nvPr/>
        </p:nvSpPr>
        <p:spPr>
          <a:xfrm>
            <a:off x="9207500" y="55245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1E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E232FAF2-CBFE-7ADC-A929-0D9F5EB4A561}"/>
              </a:ext>
            </a:extLst>
          </p:cNvPr>
          <p:cNvSpPr/>
          <p:nvPr/>
        </p:nvSpPr>
        <p:spPr>
          <a:xfrm>
            <a:off x="9207500" y="5905500"/>
            <a:ext cx="4953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F1E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Setujui launch program percontohan dalam waktu 30 hari</a:t>
            </a:r>
            <a:r>
              <a:rPr lang="en-US" sz="1600" dirty="0">
                <a:solidFill>
                  <a:srgbClr val="0F1E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untuk menangkap nilai peak season yang akan datang dan mulai lindungi revenue dengan segera.</a:t>
            </a:r>
            <a:endParaRPr lang="en-US" sz="1600" dirty="0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286DCC65-55E6-51B4-42AD-318332DB0F53}"/>
              </a:ext>
            </a:extLst>
          </p:cNvPr>
          <p:cNvSpPr/>
          <p:nvPr/>
        </p:nvSpPr>
        <p:spPr>
          <a:xfrm>
            <a:off x="5588000" y="8483600"/>
            <a:ext cx="5080000" cy="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C093A7B9-3063-4F73-587D-622ECCD636CB}"/>
              </a:ext>
            </a:extLst>
          </p:cNvPr>
          <p:cNvSpPr/>
          <p:nvPr/>
        </p:nvSpPr>
        <p:spPr>
          <a:xfrm>
            <a:off x="4318000" y="86106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Hotel Booking Cancellation Risk Model | June 2026 | CONFIDENTIAL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944</Words>
  <Application>Microsoft Office PowerPoint</Application>
  <PresentationFormat>Custom</PresentationFormat>
  <Paragraphs>153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Liter</vt:lpstr>
      <vt:lpstr>Quattrocento Sans</vt:lpstr>
      <vt:lpstr>QuattrocentoSans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Cancellation: Predictive Risk Model &amp; Strategic Mitigation</dc:title>
  <dc:subject>Hotel Booking Cancellation: Predictive Risk Model &amp; Strategic Mitigation</dc:subject>
  <dc:creator>Kimi</dc:creator>
  <cp:lastModifiedBy>Maulana Abdul Aziz</cp:lastModifiedBy>
  <cp:revision>6</cp:revision>
  <dcterms:created xsi:type="dcterms:W3CDTF">2026-06-01T00:45:54Z</dcterms:created>
  <dcterms:modified xsi:type="dcterms:W3CDTF">2026-06-01T16:27:14Z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{"Label":"Hotel Booking Cancellation: Predictive Risk Model &amp; Strategic Mitigation","ContentProducer":"001191110108MACG2KBH8F10000","ProduceID":"19e809f5-9b32-8524-8000-0000e1bdfa83","ReservedCode1":"","ContentPropagator":"001191110108MACG2KBH8F20000","PropagateID":"19e809f5-9b32-8524-8000-0000e1bdfa83","ReservedCode2":""}</vt:lpwstr>
  </property>
</Properties>
</file>